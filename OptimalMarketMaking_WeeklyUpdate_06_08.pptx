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Playfair Displ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a191140b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a191140b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a191140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a191140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a191140b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a191140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a191140b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a191140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a191140b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a191140b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191140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a191140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a191140b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a191140b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379600" y="5407525"/>
            <a:ext cx="17404500" cy="36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379600" y="1632650"/>
            <a:ext cx="17328600" cy="3168600"/>
          </a:xfrm>
          <a:prstGeom prst="rect">
            <a:avLst/>
          </a:prstGeom>
          <a:noFill/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44600" y="5617225"/>
            <a:ext cx="16398600" cy="3262800"/>
          </a:xfrm>
          <a:prstGeom prst="rect">
            <a:avLst/>
          </a:prstGeom>
          <a:noFill/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019100" y="2847750"/>
            <a:ext cx="16249800" cy="3596400"/>
          </a:xfrm>
          <a:prstGeom prst="rect">
            <a:avLst/>
          </a:prstGeom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019100" y="2847750"/>
            <a:ext cx="16249800" cy="359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34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96648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71000" y="12636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623400" y="2782755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CCCCC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980500" y="1052700"/>
            <a:ext cx="153420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639000" y="8461150"/>
            <a:ext cx="11997600" cy="1197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>
                <a:solidFill>
                  <a:srgbClr val="000000"/>
                </a:solidFill>
              </a:defRPr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623400" y="2466200"/>
            <a:ext cx="17041200" cy="3220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23400" y="5838900"/>
            <a:ext cx="17041200" cy="21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50850" lvl="1" marL="9144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 algn="ctr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1pPr>
            <a:lvl2pPr indent="-45085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2pPr>
            <a:lvl3pPr indent="-45085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3pPr>
            <a:lvl4pPr indent="-45085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4pPr>
            <a:lvl5pPr indent="-45085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5pPr>
            <a:lvl6pPr indent="-45085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6pPr>
            <a:lvl7pPr indent="-45085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7pPr>
            <a:lvl8pPr indent="-45085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8pPr>
            <a:lvl9pPr indent="-45085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600"/>
            </a:lvl1pPr>
            <a:lvl2pPr lvl="1" algn="r">
              <a:buNone/>
              <a:defRPr sz="2600"/>
            </a:lvl2pPr>
            <a:lvl3pPr lvl="2" algn="r">
              <a:buNone/>
              <a:defRPr sz="2600"/>
            </a:lvl3pPr>
            <a:lvl4pPr lvl="3" algn="r">
              <a:buNone/>
              <a:defRPr sz="2600"/>
            </a:lvl4pPr>
            <a:lvl5pPr lvl="4" algn="r">
              <a:buNone/>
              <a:defRPr sz="2600"/>
            </a:lvl5pPr>
            <a:lvl6pPr lvl="5" algn="r">
              <a:buNone/>
              <a:defRPr sz="2600"/>
            </a:lvl6pPr>
            <a:lvl7pPr lvl="6" algn="r">
              <a:buNone/>
              <a:defRPr sz="2600"/>
            </a:lvl7pPr>
            <a:lvl8pPr lvl="7" algn="r">
              <a:buNone/>
              <a:defRPr sz="2600"/>
            </a:lvl8pPr>
            <a:lvl9pPr lvl="8" algn="r">
              <a:buNone/>
              <a:defRPr sz="2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17162" y="260575"/>
            <a:ext cx="3053676" cy="480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1"/>
          <p:cNvCxnSpPr/>
          <p:nvPr/>
        </p:nvCxnSpPr>
        <p:spPr>
          <a:xfrm>
            <a:off x="417550" y="493750"/>
            <a:ext cx="690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1"/>
          <p:cNvCxnSpPr/>
          <p:nvPr/>
        </p:nvCxnSpPr>
        <p:spPr>
          <a:xfrm>
            <a:off x="10913325" y="500913"/>
            <a:ext cx="690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79600" y="1632650"/>
            <a:ext cx="17328600" cy="3168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Optimal Market Making for Cryptocurrency Options : Summer Project Weekly Update</a:t>
            </a:r>
            <a:endParaRPr sz="4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844600" y="5407625"/>
            <a:ext cx="16398600" cy="326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Team Members: Robert Cao, Dhrubojeet Haldar, Shiqin Song, Surya Sridhar, Vedashree Teli, Peng Yang</a:t>
            </a:r>
            <a:endParaRPr b="1" sz="2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Team Mentor: Mr Dendi Suhubdy</a:t>
            </a:r>
            <a:endParaRPr b="1" sz="2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Advisors: Dr Tao Pang, Mr Patrick Roberts</a:t>
            </a:r>
            <a:endParaRPr b="1" sz="2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June 8th, 2026</a:t>
            </a:r>
            <a:endParaRPr b="1" sz="2000"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Housekeeping Setup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623400" y="23335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Recurring collaborative working session set on Tuesday; meetings ad-hoc otherwise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Github setup for code collaboration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Drive setup for resources, data, presentation slides and meeting notes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Google Chat for communications/ email communications with mentor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JIRA board setup to keep track of weekly tasks</a:t>
            </a:r>
            <a:endParaRPr sz="3000"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Week (1st June - 7th June) 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623400" y="23335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Met on Tuesday, Thursday and Saturday (30 – 45 mins each)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Led discussion on project timelines and deliverables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Dhrubojeet looked up different data sources as alternatives to </a:t>
            </a:r>
            <a:r>
              <a:rPr lang="en" sz="3000"/>
              <a:t>Coincall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Split work on Problem Set 1 as follows,</a:t>
            </a:r>
            <a:endParaRPr sz="30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 sz="3000"/>
              <a:t>Q1. Surya</a:t>
            </a:r>
            <a:endParaRPr sz="30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 sz="3000"/>
              <a:t>Q2. Vedashree</a:t>
            </a:r>
            <a:endParaRPr sz="30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 sz="3000"/>
              <a:t>Q3. Peng</a:t>
            </a:r>
            <a:endParaRPr sz="30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 sz="3000"/>
              <a:t>Q4. Shiqin</a:t>
            </a:r>
            <a:endParaRPr sz="30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 sz="3000"/>
              <a:t>Q5. Robert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Went through syllabus for Week 2; discussed on resources to understand HJB </a:t>
            </a:r>
            <a:endParaRPr sz="3000"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Blockers / Concerns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623400" y="23335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Confusion on optimal way to follow the syllabus / grading requirements / TA requirements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Coincall being inaccessible in the US, with VPN options not looking promising; L3 data mismatch seen as well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Question on resources for understanding the math-heavy sections of the project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Altering the project timeline to fit 9 weeks instead of 10</a:t>
            </a:r>
            <a:endParaRPr sz="3000"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 (1st June - 7th June) 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623400" y="23335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Session on understanding HJB and Avellaneda -Stoikov Model and how to use them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Work on datasets once that has been clarified and retroactively use that for last week’s work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Identify a strategy to better combine code practices and math concepts such that the entire deliverable feels like one complete unit</a:t>
            </a:r>
            <a:endParaRPr sz="3000"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 of Week 1: Glosten-Milgrom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525" y="3320750"/>
            <a:ext cx="6602923" cy="15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895750" y="5206500"/>
            <a:ext cx="62142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434343"/>
                </a:solidFill>
              </a:rPr>
              <a:t>Ask Quote</a:t>
            </a:r>
            <a:endParaRPr sz="3500">
              <a:solidFill>
                <a:srgbClr val="434343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0625625" y="5094550"/>
            <a:ext cx="62142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434343"/>
                </a:solidFill>
              </a:rPr>
              <a:t>Bid</a:t>
            </a:r>
            <a:r>
              <a:rPr lang="en" sz="3500">
                <a:solidFill>
                  <a:srgbClr val="434343"/>
                </a:solidFill>
              </a:rPr>
              <a:t> Quote</a:t>
            </a:r>
            <a:endParaRPr sz="3500">
              <a:solidFill>
                <a:srgbClr val="434343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28000" y="3185600"/>
            <a:ext cx="7209451" cy="183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4675" y="6414700"/>
            <a:ext cx="59245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6036900" y="7784800"/>
            <a:ext cx="62142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434343"/>
                </a:solidFill>
              </a:rPr>
              <a:t>Equilibrium</a:t>
            </a:r>
            <a:r>
              <a:rPr lang="en" sz="3500">
                <a:solidFill>
                  <a:srgbClr val="434343"/>
                </a:solidFill>
              </a:rPr>
              <a:t> Bid-Ask Spread</a:t>
            </a:r>
            <a:endParaRPr sz="3500">
              <a:solidFill>
                <a:srgbClr val="434343"/>
              </a:solidFill>
            </a:endParaRPr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 of Week 1: Price Impact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888" y="3163963"/>
            <a:ext cx="13230225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3764250" y="8212975"/>
            <a:ext cx="107595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</a:rPr>
              <a:t>Analysis on BTC-USDT perp data for 1 hour (June 2nd 2026) 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74800" y="858900"/>
            <a:ext cx="177384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on Tentative Data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623400" y="23934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Near-zero effective spread (~0.009 bps) — market makers earn almost nothing upfront.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Price impact dominates — trades predict midpoint direction, flow is toxic.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Negative realized spread — adverse selection exceeds spread revenue; LPs lose money net.</a:t>
            </a:r>
            <a:endParaRPr sz="3000"/>
          </a:p>
          <a:p>
            <a:pPr indent="0" lvl="0" marL="0" rtl="0" algn="l">
              <a:lnSpc>
                <a:spcPct val="15000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Rectangle">
  <a:themeElements>
    <a:clrScheme name="Coral">
      <a:dk1>
        <a:srgbClr val="CC0000"/>
      </a:dk1>
      <a:lt1>
        <a:srgbClr val="FFFFFF"/>
      </a:lt1>
      <a:dk2>
        <a:srgbClr val="6D6D6D"/>
      </a:dk2>
      <a:lt2>
        <a:srgbClr val="C3C3C3"/>
      </a:lt2>
      <a:accent1>
        <a:srgbClr val="990000"/>
      </a:accent1>
      <a:accent2>
        <a:srgbClr val="008473"/>
      </a:accent2>
      <a:accent3>
        <a:srgbClr val="427E93"/>
      </a:accent3>
      <a:accent4>
        <a:srgbClr val="D14905"/>
      </a:accent4>
      <a:accent5>
        <a:srgbClr val="FAC800"/>
      </a:accent5>
      <a:accent6>
        <a:srgbClr val="6F7D1C"/>
      </a:accent6>
      <a:hlink>
        <a:srgbClr val="CC0000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